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73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</p:sldIdLst>
  <p:sldSz cx="12192000" cy="6858000"/>
  <p:notesSz cx="6858000" cy="9144000"/>
  <p:embeddedFontLst>
    <p:embeddedFont>
      <p:font typeface="Open Sans" panose="020B0606030504020204" pitchFamily="34" charset="0"/>
      <p:regular r:id=""/>
      <p:bold r:id=""/>
      <p:italic r:id=""/>
      <p:boldItalic r:id=""/>
    </p:embeddedFont>
    <p:embeddedFont>
      <p:font typeface="Open Sans Light" panose="020B0306030504020204" pitchFamily="34" charset="0"/>
      <p:regular r:id=""/>
      <p:italic r:id=""/>
    </p:embeddedFont>
    <p:embeddedFont>
      <p:font typeface="Trebuchet MS" panose="020B0603020202020204" pitchFamily="34" charset="0"/>
      <p:regular r:id=""/>
      <p:bold r:id=""/>
      <p:italic r:id=""/>
      <p:boldItalic r:id="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5349"/>
    <a:srgbClr val="E84A27"/>
    <a:srgbClr val="26416B"/>
    <a:srgbClr val="13294B"/>
    <a:srgbClr val="471200"/>
    <a:srgbClr val="FFFFFF"/>
    <a:srgbClr val="D13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22" autoAdjust="0"/>
    <p:restoredTop sz="93939" autoAdjust="0"/>
  </p:normalViewPr>
  <p:slideViewPr>
    <p:cSldViewPr snapToGrid="0">
      <p:cViewPr varScale="1">
        <p:scale>
          <a:sx n="108" d="100"/>
          <a:sy n="108" d="100"/>
        </p:scale>
        <p:origin x="2996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2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375BD-B717-724F-BDEE-20B3991830D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D5DA4-BFC1-E141-8804-23D412AB8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3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D5DA4-BFC1-E141-8804-23D412AB8C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25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D5DA4-BFC1-E141-8804-23D412AB8C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26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D5DA4-BFC1-E141-8804-23D412AB8C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981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D5DA4-BFC1-E141-8804-23D412AB8C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50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D5DA4-BFC1-E141-8804-23D412AB8C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776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D5DA4-BFC1-E141-8804-23D412AB8C8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34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ENGINEERING TOPIC #3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D5DA4-BFC1-E141-8804-23D412AB8C8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72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D5DA4-BFC1-E141-8804-23D412AB8C8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723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173038" y="297951"/>
            <a:ext cx="11868149" cy="3235963"/>
          </a:xfrm>
        </p:spPr>
        <p:txBody>
          <a:bodyPr anchor="b" anchorCtr="0">
            <a:noAutofit/>
          </a:bodyPr>
          <a:lstStyle>
            <a:lvl1pPr algn="ctr">
              <a:defRPr sz="6000" b="1" cap="all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Course Title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173037" y="3534310"/>
            <a:ext cx="11868151" cy="29489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rgbClr val="E84A2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with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173038" y="3829205"/>
            <a:ext cx="11868150" cy="496215"/>
          </a:xfrm>
        </p:spPr>
        <p:txBody>
          <a:bodyPr>
            <a:noAutofit/>
          </a:bodyPr>
          <a:lstStyle>
            <a:lvl1pPr marL="0" indent="0" algn="ctr">
              <a:buNone/>
              <a:defRPr sz="3600" cap="all" spc="300" baseline="0">
                <a:solidFill>
                  <a:srgbClr val="E84A2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Instructor Name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73038" y="5132982"/>
            <a:ext cx="11868150" cy="374579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ln w="3175">
                  <a:noFill/>
                </a:ln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3038" y="5623676"/>
            <a:ext cx="11868150" cy="374579"/>
          </a:xfrm>
        </p:spPr>
        <p:txBody>
          <a:bodyPr>
            <a:normAutofit/>
          </a:bodyPr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Lesson Title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600" y="6219929"/>
            <a:ext cx="272603" cy="39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4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1757" y="211017"/>
            <a:ext cx="11752446" cy="1148920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5400" b="1" spc="-300" baseline="0">
                <a:solidFill>
                  <a:srgbClr val="26416B"/>
                </a:solidFill>
              </a:defRPr>
            </a:lvl1pPr>
          </a:lstStyle>
          <a:p>
            <a:r>
              <a:rPr lang="en-US" dirty="0"/>
              <a:t>Click to insert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11756" y="1359936"/>
            <a:ext cx="11752447" cy="451835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  <a:lvl2pPr>
              <a:defRPr sz="32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211757" y="6219929"/>
            <a:ext cx="11206520" cy="394430"/>
          </a:xfrm>
        </p:spPr>
        <p:txBody>
          <a:bodyPr>
            <a:noAutofit/>
          </a:bodyPr>
          <a:lstStyle>
            <a:lvl1pPr marL="0" indent="0" algn="l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reference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600" y="6219929"/>
            <a:ext cx="272603" cy="39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7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Slide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211757" y="211017"/>
            <a:ext cx="11752446" cy="1148920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5400" b="1" spc="-300" baseline="0">
                <a:solidFill>
                  <a:srgbClr val="26416B"/>
                </a:solidFill>
              </a:defRPr>
            </a:lvl1pPr>
          </a:lstStyle>
          <a:p>
            <a:r>
              <a:rPr lang="en-US" dirty="0"/>
              <a:t>Click to insert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11138" y="1359937"/>
            <a:ext cx="11753065" cy="465688"/>
          </a:xfrm>
        </p:spPr>
        <p:txBody>
          <a:bodyPr>
            <a:noAutofit/>
          </a:bodyPr>
          <a:lstStyle>
            <a:lvl1pPr marL="0" indent="0">
              <a:buNone/>
              <a:defRPr sz="2800" b="1" cap="all" baseline="0">
                <a:solidFill>
                  <a:schemeClr val="tx1"/>
                </a:solidFill>
                <a:latin typeface="Trebuchet MS" panose="020B0603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Insert subheading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211756" y="1825624"/>
            <a:ext cx="11752447" cy="40526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211757" y="6219929"/>
            <a:ext cx="11206520" cy="394430"/>
          </a:xfrm>
        </p:spPr>
        <p:txBody>
          <a:bodyPr>
            <a:noAutofit/>
          </a:bodyPr>
          <a:lstStyle>
            <a:lvl1pPr marL="0" indent="0" algn="l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reference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600" y="6219929"/>
            <a:ext cx="272603" cy="39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967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Slide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1757" y="186660"/>
            <a:ext cx="11752446" cy="564531"/>
          </a:xfrm>
        </p:spPr>
        <p:txBody>
          <a:bodyPr>
            <a:noAutofit/>
          </a:bodyPr>
          <a:lstStyle>
            <a:lvl1pPr>
              <a:defRPr sz="5000" b="1" spc="-300">
                <a:solidFill>
                  <a:srgbClr val="26416B"/>
                </a:solidFill>
                <a:latin typeface="Open Sans" panose="020B0606030504020204" pitchFamily="34" charset="0"/>
                <a:cs typeface="Microsoft Tai Le" panose="020B0502040204020203" pitchFamily="34" charset="0"/>
              </a:defRPr>
            </a:lvl1pPr>
          </a:lstStyle>
          <a:p>
            <a:r>
              <a:rPr lang="en-US" dirty="0"/>
              <a:t>Click to insert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11138" y="686435"/>
            <a:ext cx="11753850" cy="465688"/>
          </a:xfrm>
        </p:spPr>
        <p:txBody>
          <a:bodyPr>
            <a:noAutofit/>
          </a:bodyPr>
          <a:lstStyle>
            <a:lvl1pPr marL="0" indent="0">
              <a:buNone/>
              <a:defRPr sz="3200" cap="all" baseline="0">
                <a:solidFill>
                  <a:srgbClr val="E84A27"/>
                </a:solidFill>
                <a:latin typeface="Open Sans" panose="020B0606030504020204" pitchFamily="34" charset="0"/>
                <a:ea typeface="Franchise" panose="00000009000000000000" pitchFamily="49" charset="0"/>
                <a:cs typeface="Microsoft Tai Le" panose="020B0502040204020203" pitchFamily="34" charset="0"/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211756" y="1359936"/>
            <a:ext cx="11752447" cy="45183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211757" y="6219929"/>
            <a:ext cx="11206520" cy="394430"/>
          </a:xfrm>
        </p:spPr>
        <p:txBody>
          <a:bodyPr>
            <a:noAutofit/>
          </a:bodyPr>
          <a:lstStyle>
            <a:lvl1pPr marL="0" indent="0" algn="l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reference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600" y="6219929"/>
            <a:ext cx="272603" cy="39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28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Subheading Slide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1757" y="186660"/>
            <a:ext cx="11752446" cy="564531"/>
          </a:xfrm>
        </p:spPr>
        <p:txBody>
          <a:bodyPr>
            <a:noAutofit/>
          </a:bodyPr>
          <a:lstStyle>
            <a:lvl1pPr>
              <a:defRPr sz="5000" b="1" spc="-300">
                <a:solidFill>
                  <a:srgbClr val="26416B"/>
                </a:solidFill>
                <a:latin typeface="Open Sans" panose="020B0606030504020204" pitchFamily="34" charset="0"/>
                <a:cs typeface="Microsoft Tai Le" panose="020B0502040204020203" pitchFamily="34" charset="0"/>
              </a:defRPr>
            </a:lvl1pPr>
          </a:lstStyle>
          <a:p>
            <a:r>
              <a:rPr lang="en-US" dirty="0"/>
              <a:t>Click to insert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11138" y="686435"/>
            <a:ext cx="11753850" cy="465688"/>
          </a:xfrm>
        </p:spPr>
        <p:txBody>
          <a:bodyPr>
            <a:noAutofit/>
          </a:bodyPr>
          <a:lstStyle>
            <a:lvl1pPr marL="0" indent="0">
              <a:buNone/>
              <a:defRPr sz="3200" cap="all" baseline="0">
                <a:solidFill>
                  <a:srgbClr val="E84A27"/>
                </a:solidFill>
                <a:latin typeface="Open Sans" panose="020B0606030504020204" pitchFamily="34" charset="0"/>
                <a:ea typeface="Franchise" panose="00000009000000000000" pitchFamily="49" charset="0"/>
                <a:cs typeface="Microsoft Tai Le" panose="020B0502040204020203" pitchFamily="34" charset="0"/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11138" y="1359937"/>
            <a:ext cx="11753065" cy="465688"/>
          </a:xfrm>
        </p:spPr>
        <p:txBody>
          <a:bodyPr>
            <a:noAutofit/>
          </a:bodyPr>
          <a:lstStyle>
            <a:lvl1pPr marL="0" indent="0">
              <a:buNone/>
              <a:defRPr sz="2800" b="1" cap="all" baseline="0">
                <a:solidFill>
                  <a:schemeClr val="tx1"/>
                </a:solidFill>
                <a:latin typeface="Trebuchet MS" panose="020B0603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Insert subheading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211756" y="1825624"/>
            <a:ext cx="11752447" cy="40526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211757" y="6219929"/>
            <a:ext cx="11206520" cy="394430"/>
          </a:xfrm>
        </p:spPr>
        <p:txBody>
          <a:bodyPr>
            <a:noAutofit/>
          </a:bodyPr>
          <a:lstStyle>
            <a:lvl1pPr marL="0" indent="0" algn="l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reference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600" y="6219929"/>
            <a:ext cx="272603" cy="39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64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Slide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211757" y="211017"/>
            <a:ext cx="11752446" cy="1148920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5400" b="1" spc="-300" baseline="0">
                <a:solidFill>
                  <a:srgbClr val="26416B"/>
                </a:solidFill>
              </a:defRPr>
            </a:lvl1pPr>
          </a:lstStyle>
          <a:p>
            <a:r>
              <a:rPr lang="en-US" dirty="0"/>
              <a:t>Click to insert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11756" y="1359938"/>
            <a:ext cx="5736657" cy="45183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27546" y="1359938"/>
            <a:ext cx="5736657" cy="45183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211757" y="6219929"/>
            <a:ext cx="11206520" cy="394430"/>
          </a:xfrm>
        </p:spPr>
        <p:txBody>
          <a:bodyPr>
            <a:noAutofit/>
          </a:bodyPr>
          <a:lstStyle>
            <a:lvl1pPr marL="0" indent="0" algn="l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reference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600" y="6219929"/>
            <a:ext cx="272603" cy="39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97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Subheading Slide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11757" y="211017"/>
            <a:ext cx="11752446" cy="1148920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5400" b="1" spc="-300" baseline="0">
                <a:solidFill>
                  <a:srgbClr val="26416B"/>
                </a:solidFill>
              </a:defRPr>
            </a:lvl1pPr>
          </a:lstStyle>
          <a:p>
            <a:r>
              <a:rPr lang="en-US" dirty="0"/>
              <a:t>Click to insert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11139" y="1359937"/>
            <a:ext cx="5737268" cy="465688"/>
          </a:xfrm>
        </p:spPr>
        <p:txBody>
          <a:bodyPr>
            <a:noAutofit/>
          </a:bodyPr>
          <a:lstStyle>
            <a:lvl1pPr marL="0" indent="0">
              <a:buNone/>
              <a:defRPr sz="28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subheading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11756" y="1825626"/>
            <a:ext cx="5736657" cy="40526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226929" y="1359937"/>
            <a:ext cx="5737268" cy="465688"/>
          </a:xfrm>
        </p:spPr>
        <p:txBody>
          <a:bodyPr>
            <a:noAutofit/>
          </a:bodyPr>
          <a:lstStyle>
            <a:lvl1pPr marL="0" indent="0">
              <a:buNone/>
              <a:defRPr sz="28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subheading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27546" y="1825626"/>
            <a:ext cx="5736657" cy="40526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211757" y="6219929"/>
            <a:ext cx="11206520" cy="394430"/>
          </a:xfrm>
        </p:spPr>
        <p:txBody>
          <a:bodyPr>
            <a:noAutofit/>
          </a:bodyPr>
          <a:lstStyle>
            <a:lvl1pPr marL="0" indent="0" algn="l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reference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600" y="6219929"/>
            <a:ext cx="272603" cy="39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631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11757" y="211017"/>
            <a:ext cx="11752446" cy="1148920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lang="en-US" spc="-300" dirty="0">
                <a:solidFill>
                  <a:srgbClr val="26416B"/>
                </a:solidFill>
              </a:defRPr>
            </a:lvl1pPr>
          </a:lstStyle>
          <a:p>
            <a:r>
              <a:rPr lang="en-US" dirty="0"/>
              <a:t>Click to insert title</a:t>
            </a:r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211757" y="6219929"/>
            <a:ext cx="11206520" cy="394430"/>
          </a:xfrm>
        </p:spPr>
        <p:txBody>
          <a:bodyPr>
            <a:noAutofit/>
          </a:bodyPr>
          <a:lstStyle>
            <a:lvl1pPr marL="0" indent="0" algn="l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reference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600" y="6219929"/>
            <a:ext cx="272603" cy="39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6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inition Slide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481262" y="441063"/>
            <a:ext cx="11242307" cy="3018829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4400" b="1" i="0" cap="all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INSERT TERM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81263" y="3459893"/>
            <a:ext cx="11242307" cy="2534508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definition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600" y="6219929"/>
            <a:ext cx="272603" cy="39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1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81263" y="452387"/>
            <a:ext cx="11242307" cy="598691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"Insert quotation."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600" y="6219929"/>
            <a:ext cx="272603" cy="394430"/>
          </a:xfrm>
          <a:prstGeom prst="rect">
            <a:avLst/>
          </a:prstGeom>
        </p:spPr>
      </p:pic>
      <p:sp>
        <p:nvSpPr>
          <p:cNvPr id="4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481263" y="5975683"/>
            <a:ext cx="11242307" cy="46361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i="0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Quote Attribution</a:t>
            </a:r>
          </a:p>
        </p:txBody>
      </p:sp>
    </p:spTree>
    <p:extLst>
      <p:ext uri="{BB962C8B-B14F-4D97-AF65-F5344CB8AC3E}">
        <p14:creationId xmlns:p14="http://schemas.microsoft.com/office/powerpoint/2010/main" val="17949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600" y="6219929"/>
            <a:ext cx="272603" cy="39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34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Slide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11757" y="72570"/>
            <a:ext cx="11752446" cy="1058779"/>
          </a:xfrm>
        </p:spPr>
        <p:txBody>
          <a:bodyPr>
            <a:normAutofit/>
          </a:bodyPr>
          <a:lstStyle>
            <a:lvl1pPr>
              <a:defRPr sz="5400" spc="-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References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 hasCustomPrompt="1"/>
          </p:nvPr>
        </p:nvSpPr>
        <p:spPr>
          <a:xfrm>
            <a:off x="211755" y="1376947"/>
            <a:ext cx="11752730" cy="4674532"/>
          </a:xfrm>
          <a:custGeom>
            <a:avLst/>
            <a:gdLst>
              <a:gd name="connsiteX0" fmla="*/ 0 w 11758675"/>
              <a:gd name="connsiteY0" fmla="*/ 0 h 5209314"/>
              <a:gd name="connsiteX1" fmla="*/ 11752447 w 11758675"/>
              <a:gd name="connsiteY1" fmla="*/ 0 h 5209314"/>
              <a:gd name="connsiteX2" fmla="*/ 11758348 w 11758675"/>
              <a:gd name="connsiteY2" fmla="*/ 3969822 h 5209314"/>
              <a:gd name="connsiteX3" fmla="*/ 11758675 w 11758675"/>
              <a:gd name="connsiteY3" fmla="*/ 4557128 h 5209314"/>
              <a:gd name="connsiteX4" fmla="*/ 11170620 w 11758675"/>
              <a:gd name="connsiteY4" fmla="*/ 4557128 h 5209314"/>
              <a:gd name="connsiteX5" fmla="*/ 11170620 w 11758675"/>
              <a:gd name="connsiteY5" fmla="*/ 5209314 h 5209314"/>
              <a:gd name="connsiteX6" fmla="*/ 0 w 11758675"/>
              <a:gd name="connsiteY6" fmla="*/ 5207268 h 5209314"/>
              <a:gd name="connsiteX0" fmla="*/ 0 w 12647099"/>
              <a:gd name="connsiteY0" fmla="*/ 0 h 5209314"/>
              <a:gd name="connsiteX1" fmla="*/ 11752447 w 12647099"/>
              <a:gd name="connsiteY1" fmla="*/ 0 h 5209314"/>
              <a:gd name="connsiteX2" fmla="*/ 11758675 w 12647099"/>
              <a:gd name="connsiteY2" fmla="*/ 4557128 h 5209314"/>
              <a:gd name="connsiteX3" fmla="*/ 11170620 w 12647099"/>
              <a:gd name="connsiteY3" fmla="*/ 4557128 h 5209314"/>
              <a:gd name="connsiteX4" fmla="*/ 11170620 w 12647099"/>
              <a:gd name="connsiteY4" fmla="*/ 5209314 h 5209314"/>
              <a:gd name="connsiteX5" fmla="*/ 0 w 12647099"/>
              <a:gd name="connsiteY5" fmla="*/ 5207268 h 5209314"/>
              <a:gd name="connsiteX6" fmla="*/ 0 w 12647099"/>
              <a:gd name="connsiteY6" fmla="*/ 0 h 5209314"/>
              <a:gd name="connsiteX0" fmla="*/ 0 w 12631045"/>
              <a:gd name="connsiteY0" fmla="*/ 0 h 5209314"/>
              <a:gd name="connsiteX1" fmla="*/ 11752447 w 12631045"/>
              <a:gd name="connsiteY1" fmla="*/ 0 h 5209314"/>
              <a:gd name="connsiteX2" fmla="*/ 11758675 w 12631045"/>
              <a:gd name="connsiteY2" fmla="*/ 4557128 h 5209314"/>
              <a:gd name="connsiteX3" fmla="*/ 11170620 w 12631045"/>
              <a:gd name="connsiteY3" fmla="*/ 4557128 h 5209314"/>
              <a:gd name="connsiteX4" fmla="*/ 11170620 w 12631045"/>
              <a:gd name="connsiteY4" fmla="*/ 5209314 h 5209314"/>
              <a:gd name="connsiteX5" fmla="*/ 0 w 12631045"/>
              <a:gd name="connsiteY5" fmla="*/ 5207268 h 5209314"/>
              <a:gd name="connsiteX6" fmla="*/ 0 w 12631045"/>
              <a:gd name="connsiteY6" fmla="*/ 0 h 5209314"/>
              <a:gd name="connsiteX0" fmla="*/ 0 w 11772040"/>
              <a:gd name="connsiteY0" fmla="*/ 0 h 5209314"/>
              <a:gd name="connsiteX1" fmla="*/ 11752447 w 11772040"/>
              <a:gd name="connsiteY1" fmla="*/ 0 h 5209314"/>
              <a:gd name="connsiteX2" fmla="*/ 11758675 w 11772040"/>
              <a:gd name="connsiteY2" fmla="*/ 4557128 h 5209314"/>
              <a:gd name="connsiteX3" fmla="*/ 11170620 w 11772040"/>
              <a:gd name="connsiteY3" fmla="*/ 4557128 h 5209314"/>
              <a:gd name="connsiteX4" fmla="*/ 11170620 w 11772040"/>
              <a:gd name="connsiteY4" fmla="*/ 5209314 h 5209314"/>
              <a:gd name="connsiteX5" fmla="*/ 0 w 11772040"/>
              <a:gd name="connsiteY5" fmla="*/ 5207268 h 5209314"/>
              <a:gd name="connsiteX6" fmla="*/ 0 w 11772040"/>
              <a:gd name="connsiteY6" fmla="*/ 0 h 5209314"/>
              <a:gd name="connsiteX0" fmla="*/ 0 w 11772040"/>
              <a:gd name="connsiteY0" fmla="*/ 0 h 5209314"/>
              <a:gd name="connsiteX1" fmla="*/ 11752447 w 11772040"/>
              <a:gd name="connsiteY1" fmla="*/ 0 h 5209314"/>
              <a:gd name="connsiteX2" fmla="*/ 11758675 w 11772040"/>
              <a:gd name="connsiteY2" fmla="*/ 4557128 h 5209314"/>
              <a:gd name="connsiteX3" fmla="*/ 11170620 w 11772040"/>
              <a:gd name="connsiteY3" fmla="*/ 4557128 h 5209314"/>
              <a:gd name="connsiteX4" fmla="*/ 11170620 w 11772040"/>
              <a:gd name="connsiteY4" fmla="*/ 5209314 h 5209314"/>
              <a:gd name="connsiteX5" fmla="*/ 0 w 11772040"/>
              <a:gd name="connsiteY5" fmla="*/ 5207268 h 5209314"/>
              <a:gd name="connsiteX6" fmla="*/ 0 w 11772040"/>
              <a:gd name="connsiteY6" fmla="*/ 0 h 5209314"/>
              <a:gd name="connsiteX0" fmla="*/ 0 w 11761931"/>
              <a:gd name="connsiteY0" fmla="*/ 0 h 5209314"/>
              <a:gd name="connsiteX1" fmla="*/ 11752447 w 11761931"/>
              <a:gd name="connsiteY1" fmla="*/ 0 h 5209314"/>
              <a:gd name="connsiteX2" fmla="*/ 11758675 w 11761931"/>
              <a:gd name="connsiteY2" fmla="*/ 4557128 h 5209314"/>
              <a:gd name="connsiteX3" fmla="*/ 11170620 w 11761931"/>
              <a:gd name="connsiteY3" fmla="*/ 4557128 h 5209314"/>
              <a:gd name="connsiteX4" fmla="*/ 11170620 w 11761931"/>
              <a:gd name="connsiteY4" fmla="*/ 5209314 h 5209314"/>
              <a:gd name="connsiteX5" fmla="*/ 0 w 11761931"/>
              <a:gd name="connsiteY5" fmla="*/ 5207268 h 5209314"/>
              <a:gd name="connsiteX6" fmla="*/ 0 w 11761931"/>
              <a:gd name="connsiteY6" fmla="*/ 0 h 5209314"/>
              <a:gd name="connsiteX0" fmla="*/ 0 w 11758675"/>
              <a:gd name="connsiteY0" fmla="*/ 0 h 5209314"/>
              <a:gd name="connsiteX1" fmla="*/ 11752447 w 11758675"/>
              <a:gd name="connsiteY1" fmla="*/ 0 h 5209314"/>
              <a:gd name="connsiteX2" fmla="*/ 11758675 w 11758675"/>
              <a:gd name="connsiteY2" fmla="*/ 4557128 h 5209314"/>
              <a:gd name="connsiteX3" fmla="*/ 11170620 w 11758675"/>
              <a:gd name="connsiteY3" fmla="*/ 4557128 h 5209314"/>
              <a:gd name="connsiteX4" fmla="*/ 11170620 w 11758675"/>
              <a:gd name="connsiteY4" fmla="*/ 5209314 h 5209314"/>
              <a:gd name="connsiteX5" fmla="*/ 0 w 11758675"/>
              <a:gd name="connsiteY5" fmla="*/ 5207268 h 5209314"/>
              <a:gd name="connsiteX6" fmla="*/ 0 w 11758675"/>
              <a:gd name="connsiteY6" fmla="*/ 0 h 5209314"/>
              <a:gd name="connsiteX0" fmla="*/ 0 w 11758675"/>
              <a:gd name="connsiteY0" fmla="*/ 0 h 5209314"/>
              <a:gd name="connsiteX1" fmla="*/ 11752447 w 11758675"/>
              <a:gd name="connsiteY1" fmla="*/ 0 h 5209314"/>
              <a:gd name="connsiteX2" fmla="*/ 11758675 w 11758675"/>
              <a:gd name="connsiteY2" fmla="*/ 4557128 h 5209314"/>
              <a:gd name="connsiteX3" fmla="*/ 11756247 w 11758675"/>
              <a:gd name="connsiteY3" fmla="*/ 5194533 h 5209314"/>
              <a:gd name="connsiteX4" fmla="*/ 11170620 w 11758675"/>
              <a:gd name="connsiteY4" fmla="*/ 5209314 h 5209314"/>
              <a:gd name="connsiteX5" fmla="*/ 0 w 11758675"/>
              <a:gd name="connsiteY5" fmla="*/ 5207268 h 5209314"/>
              <a:gd name="connsiteX6" fmla="*/ 0 w 11758675"/>
              <a:gd name="connsiteY6" fmla="*/ 0 h 5209314"/>
              <a:gd name="connsiteX0" fmla="*/ 0 w 11822053"/>
              <a:gd name="connsiteY0" fmla="*/ 0 h 5220126"/>
              <a:gd name="connsiteX1" fmla="*/ 11752447 w 11822053"/>
              <a:gd name="connsiteY1" fmla="*/ 0 h 5220126"/>
              <a:gd name="connsiteX2" fmla="*/ 11758675 w 11822053"/>
              <a:gd name="connsiteY2" fmla="*/ 4557128 h 5220126"/>
              <a:gd name="connsiteX3" fmla="*/ 11756247 w 11822053"/>
              <a:gd name="connsiteY3" fmla="*/ 5194533 h 5220126"/>
              <a:gd name="connsiteX4" fmla="*/ 11170620 w 11822053"/>
              <a:gd name="connsiteY4" fmla="*/ 5209314 h 5220126"/>
              <a:gd name="connsiteX5" fmla="*/ 0 w 11822053"/>
              <a:gd name="connsiteY5" fmla="*/ 5207268 h 5220126"/>
              <a:gd name="connsiteX6" fmla="*/ 0 w 11822053"/>
              <a:gd name="connsiteY6" fmla="*/ 0 h 5220126"/>
              <a:gd name="connsiteX0" fmla="*/ 0 w 11758803"/>
              <a:gd name="connsiteY0" fmla="*/ 0 h 5209314"/>
              <a:gd name="connsiteX1" fmla="*/ 11752447 w 11758803"/>
              <a:gd name="connsiteY1" fmla="*/ 0 h 5209314"/>
              <a:gd name="connsiteX2" fmla="*/ 11758675 w 11758803"/>
              <a:gd name="connsiteY2" fmla="*/ 4557128 h 5209314"/>
              <a:gd name="connsiteX3" fmla="*/ 11756247 w 11758803"/>
              <a:gd name="connsiteY3" fmla="*/ 5194533 h 5209314"/>
              <a:gd name="connsiteX4" fmla="*/ 11170620 w 11758803"/>
              <a:gd name="connsiteY4" fmla="*/ 5209314 h 5209314"/>
              <a:gd name="connsiteX5" fmla="*/ 0 w 11758803"/>
              <a:gd name="connsiteY5" fmla="*/ 5207268 h 5209314"/>
              <a:gd name="connsiteX6" fmla="*/ 0 w 11758803"/>
              <a:gd name="connsiteY6" fmla="*/ 0 h 5209314"/>
              <a:gd name="connsiteX0" fmla="*/ 0 w 11758803"/>
              <a:gd name="connsiteY0" fmla="*/ 0 h 5220927"/>
              <a:gd name="connsiteX1" fmla="*/ 11752447 w 11758803"/>
              <a:gd name="connsiteY1" fmla="*/ 0 h 5220927"/>
              <a:gd name="connsiteX2" fmla="*/ 11758675 w 11758803"/>
              <a:gd name="connsiteY2" fmla="*/ 4557128 h 5220927"/>
              <a:gd name="connsiteX3" fmla="*/ 11756247 w 11758803"/>
              <a:gd name="connsiteY3" fmla="*/ 5220927 h 5220927"/>
              <a:gd name="connsiteX4" fmla="*/ 11170620 w 11758803"/>
              <a:gd name="connsiteY4" fmla="*/ 5209314 h 5220927"/>
              <a:gd name="connsiteX5" fmla="*/ 0 w 11758803"/>
              <a:gd name="connsiteY5" fmla="*/ 5207268 h 5220927"/>
              <a:gd name="connsiteX6" fmla="*/ 0 w 11758803"/>
              <a:gd name="connsiteY6" fmla="*/ 0 h 5220927"/>
              <a:gd name="connsiteX0" fmla="*/ 0 w 11758803"/>
              <a:gd name="connsiteY0" fmla="*/ 0 h 5212129"/>
              <a:gd name="connsiteX1" fmla="*/ 11752447 w 11758803"/>
              <a:gd name="connsiteY1" fmla="*/ 0 h 5212129"/>
              <a:gd name="connsiteX2" fmla="*/ 11758675 w 11758803"/>
              <a:gd name="connsiteY2" fmla="*/ 4557128 h 5212129"/>
              <a:gd name="connsiteX3" fmla="*/ 11756247 w 11758803"/>
              <a:gd name="connsiteY3" fmla="*/ 5212129 h 5212129"/>
              <a:gd name="connsiteX4" fmla="*/ 11170620 w 11758803"/>
              <a:gd name="connsiteY4" fmla="*/ 5209314 h 5212129"/>
              <a:gd name="connsiteX5" fmla="*/ 0 w 11758803"/>
              <a:gd name="connsiteY5" fmla="*/ 5207268 h 5212129"/>
              <a:gd name="connsiteX6" fmla="*/ 0 w 11758803"/>
              <a:gd name="connsiteY6" fmla="*/ 0 h 5212129"/>
              <a:gd name="connsiteX0" fmla="*/ 0 w 11756247"/>
              <a:gd name="connsiteY0" fmla="*/ 0 h 5212129"/>
              <a:gd name="connsiteX1" fmla="*/ 11752447 w 11756247"/>
              <a:gd name="connsiteY1" fmla="*/ 0 h 5212129"/>
              <a:gd name="connsiteX2" fmla="*/ 11756247 w 11756247"/>
              <a:gd name="connsiteY2" fmla="*/ 5212129 h 5212129"/>
              <a:gd name="connsiteX3" fmla="*/ 11170620 w 11756247"/>
              <a:gd name="connsiteY3" fmla="*/ 5209314 h 5212129"/>
              <a:gd name="connsiteX4" fmla="*/ 0 w 11756247"/>
              <a:gd name="connsiteY4" fmla="*/ 5207268 h 5212129"/>
              <a:gd name="connsiteX5" fmla="*/ 0 w 11756247"/>
              <a:gd name="connsiteY5" fmla="*/ 0 h 5212129"/>
              <a:gd name="connsiteX0" fmla="*/ 0 w 11756247"/>
              <a:gd name="connsiteY0" fmla="*/ 0 h 5212129"/>
              <a:gd name="connsiteX1" fmla="*/ 11752447 w 11756247"/>
              <a:gd name="connsiteY1" fmla="*/ 0 h 5212129"/>
              <a:gd name="connsiteX2" fmla="*/ 11756247 w 11756247"/>
              <a:gd name="connsiteY2" fmla="*/ 5212129 h 5212129"/>
              <a:gd name="connsiteX3" fmla="*/ 0 w 11756247"/>
              <a:gd name="connsiteY3" fmla="*/ 5207268 h 5212129"/>
              <a:gd name="connsiteX4" fmla="*/ 0 w 11756247"/>
              <a:gd name="connsiteY4" fmla="*/ 0 h 5212129"/>
              <a:gd name="connsiteX0" fmla="*/ 0 w 11752730"/>
              <a:gd name="connsiteY0" fmla="*/ 0 h 5212129"/>
              <a:gd name="connsiteX1" fmla="*/ 11752447 w 11752730"/>
              <a:gd name="connsiteY1" fmla="*/ 0 h 5212129"/>
              <a:gd name="connsiteX2" fmla="*/ 11751509 w 11752730"/>
              <a:gd name="connsiteY2" fmla="*/ 5212129 h 5212129"/>
              <a:gd name="connsiteX3" fmla="*/ 0 w 11752730"/>
              <a:gd name="connsiteY3" fmla="*/ 5207268 h 5212129"/>
              <a:gd name="connsiteX4" fmla="*/ 0 w 11752730"/>
              <a:gd name="connsiteY4" fmla="*/ 0 h 521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2730" h="5212129">
                <a:moveTo>
                  <a:pt x="0" y="0"/>
                </a:moveTo>
                <a:lnTo>
                  <a:pt x="11752447" y="0"/>
                </a:lnTo>
                <a:cubicBezTo>
                  <a:pt x="11753714" y="1737376"/>
                  <a:pt x="11750242" y="3474753"/>
                  <a:pt x="11751509" y="5212129"/>
                </a:cubicBezTo>
                <a:lnTo>
                  <a:pt x="0" y="5207268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457200" indent="-457200">
              <a:spcBef>
                <a:spcPts val="600"/>
              </a:spcBef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reference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600" y="6219929"/>
            <a:ext cx="272603" cy="39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35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663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38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809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58" r:id="rId5"/>
    <p:sldLayoutId id="2147483664" r:id="rId6"/>
    <p:sldLayoutId id="2147483656" r:id="rId7"/>
    <p:sldLayoutId id="2147483655" r:id="rId8"/>
    <p:sldLayoutId id="2147483657" r:id="rId9"/>
    <p:sldLayoutId id="2147483659" r:id="rId10"/>
    <p:sldLayoutId id="2147483661" r:id="rId11"/>
    <p:sldLayoutId id="2147483660" r:id="rId12"/>
    <p:sldLayoutId id="2147483665" r:id="rId13"/>
    <p:sldLayoutId id="214748366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 cap="all" spc="-150" baseline="0">
          <a:solidFill>
            <a:schemeClr val="tx1"/>
          </a:solidFill>
          <a:latin typeface="Open Sans" panose="020B0606030504020204" pitchFamily="34" charset="0"/>
          <a:ea typeface="Franchise" panose="00000009000000000000" pitchFamily="49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71200"/>
        </a:buClr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71200"/>
        </a:buClr>
        <a:buFont typeface="Arial" panose="020B0604020202020204" pitchFamily="34" charset="0"/>
        <a:buChar char="•"/>
        <a:defRPr sz="2400" b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71200"/>
        </a:buClr>
        <a:buFont typeface="Arial" panose="020B0604020202020204" pitchFamily="34" charset="0"/>
        <a:buChar char="•"/>
        <a:defRPr sz="2000" b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71200"/>
        </a:buClr>
        <a:buFont typeface="Arial" panose="020B0604020202020204" pitchFamily="34" charset="0"/>
        <a:buChar char="•"/>
        <a:defRPr sz="1800" b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71200"/>
        </a:buClr>
        <a:buFont typeface="Arial" panose="020B0604020202020204" pitchFamily="34" charset="0"/>
        <a:buChar char="•"/>
        <a:defRPr sz="1800" b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Weather and climate DATA analytics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7BECE91-F0A2-4C0D-9997-D487B433052A}"/>
              </a:ext>
            </a:extLst>
          </p:cNvPr>
          <p:cNvSpPr txBox="1">
            <a:spLocks/>
          </p:cNvSpPr>
          <p:nvPr/>
        </p:nvSpPr>
        <p:spPr>
          <a:xfrm>
            <a:off x="173038" y="5132982"/>
            <a:ext cx="11868150" cy="3745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71200"/>
              </a:buClr>
              <a:buFont typeface="Arial" panose="020B0604020202020204" pitchFamily="34" charset="0"/>
              <a:buNone/>
              <a:defRPr sz="2800" b="1" kern="1200">
                <a:ln w="3175">
                  <a:noFill/>
                </a:ln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71200"/>
              </a:buClr>
              <a:buFont typeface="Arial" panose="020B0604020202020204" pitchFamily="34" charset="0"/>
              <a:buChar char="•"/>
              <a:defRPr sz="2400" b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71200"/>
              </a:buClr>
              <a:buFont typeface="Arial" panose="020B0604020202020204" pitchFamily="34" charset="0"/>
              <a:buChar char="•"/>
              <a:defRPr sz="2000" b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71200"/>
              </a:buClr>
              <a:buFont typeface="Arial" panose="020B0604020202020204" pitchFamily="34" charset="0"/>
              <a:buChar char="•"/>
              <a:defRPr sz="1800" b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71200"/>
              </a:buClr>
              <a:buFont typeface="Arial" panose="020B0604020202020204" pitchFamily="34" charset="0"/>
              <a:buChar char="•"/>
              <a:defRPr sz="1800" b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ATMS 523</a:t>
            </a:r>
          </a:p>
          <a:p>
            <a:r>
              <a:rPr lang="en-US" dirty="0"/>
              <a:t>Synchronous session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06BD702-790A-47F6-917E-FB263E973626}"/>
              </a:ext>
            </a:extLst>
          </p:cNvPr>
          <p:cNvSpPr txBox="1">
            <a:spLocks/>
          </p:cNvSpPr>
          <p:nvPr/>
        </p:nvSpPr>
        <p:spPr>
          <a:xfrm>
            <a:off x="173038" y="3829205"/>
            <a:ext cx="11868150" cy="496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71200"/>
              </a:buClr>
              <a:buFont typeface="Arial" panose="020B0604020202020204" pitchFamily="34" charset="0"/>
              <a:buNone/>
              <a:defRPr sz="3600" b="0" kern="1200" cap="all" spc="300" baseline="0">
                <a:solidFill>
                  <a:srgbClr val="E84A2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71200"/>
              </a:buClr>
              <a:buFont typeface="Arial" panose="020B0604020202020204" pitchFamily="34" charset="0"/>
              <a:buChar char="•"/>
              <a:defRPr sz="2400" b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71200"/>
              </a:buClr>
              <a:buFont typeface="Arial" panose="020B0604020202020204" pitchFamily="34" charset="0"/>
              <a:buChar char="•"/>
              <a:defRPr sz="2000" b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71200"/>
              </a:buClr>
              <a:buFont typeface="Arial" panose="020B0604020202020204" pitchFamily="34" charset="0"/>
              <a:buChar char="•"/>
              <a:defRPr sz="1800" b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471200"/>
              </a:buClr>
              <a:buFont typeface="Arial" panose="020B0604020202020204" pitchFamily="34" charset="0"/>
              <a:buChar char="•"/>
              <a:defRPr sz="1800" b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  <a:r>
              <a:rPr lang="en-US" dirty="0" err="1"/>
              <a:t>steve</a:t>
            </a:r>
            <a:r>
              <a:rPr lang="en-US" dirty="0"/>
              <a:t> </a:t>
            </a:r>
            <a:r>
              <a:rPr lang="en-US" dirty="0" err="1"/>
              <a:t>nesbitt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125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Improving ML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756" y="1359936"/>
            <a:ext cx="11752447" cy="4570086"/>
          </a:xfrm>
        </p:spPr>
        <p:txBody>
          <a:bodyPr>
            <a:normAutofit/>
          </a:bodyPr>
          <a:lstStyle/>
          <a:p>
            <a:r>
              <a:rPr lang="en-US" sz="3600" dirty="0"/>
              <a:t>So far, we have discussed a few techniques for improving machine models</a:t>
            </a:r>
          </a:p>
          <a:p>
            <a:pPr lvl="1"/>
            <a:r>
              <a:rPr lang="en-US" dirty="0"/>
              <a:t>Input data</a:t>
            </a:r>
          </a:p>
          <a:p>
            <a:pPr lvl="2"/>
            <a:r>
              <a:rPr lang="en-US" dirty="0"/>
              <a:t>Standardization</a:t>
            </a:r>
          </a:p>
          <a:p>
            <a:pPr lvl="1"/>
            <a:r>
              <a:rPr lang="en-US" dirty="0"/>
              <a:t>Model framework</a:t>
            </a:r>
          </a:p>
          <a:p>
            <a:pPr lvl="2"/>
            <a:r>
              <a:rPr lang="en-US" dirty="0"/>
              <a:t>Model selection</a:t>
            </a:r>
          </a:p>
          <a:p>
            <a:pPr lvl="2"/>
            <a:r>
              <a:rPr lang="en-US" dirty="0"/>
              <a:t>Hyperparameter tuning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BC7C38-5AC1-2B40-8779-E4BF594F6C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36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72FA-8B86-1729-B275-3C66FFC2F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improve further?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46A3D-691E-AA8E-D2D1-0E4171A76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the data such that it meets the model better or is better ”behaved”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FEATURE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DDDAB-147E-DE5B-C570-9B3BD8848C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392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B185A-D3F3-E902-88DC-A9A3CAB8F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7230F-9CE3-01EC-82EE-218DFD482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engineering encompasses a wide variety of topics that include many ways to improve how data can be modeled.</a:t>
            </a:r>
          </a:p>
          <a:p>
            <a:r>
              <a:rPr lang="en-US" dirty="0"/>
              <a:t>It can mean transforming or modifying the data internally, or it can be introducing new information or excluding information from a dataset.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AADBF-36D9-C889-14FC-58DAAEEE8A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56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0564-534F-27FE-0C1F-594E5A9C6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topic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D58CD-BA60-8EDF-71D0-B4CE4CC29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Missing data imputation</a:t>
            </a:r>
          </a:p>
          <a:p>
            <a:pPr marL="0" indent="0">
              <a:buNone/>
            </a:pPr>
            <a:r>
              <a:rPr lang="en-US" dirty="0"/>
              <a:t>What to do with missing data?  </a:t>
            </a:r>
          </a:p>
          <a:p>
            <a:pPr marL="0" indent="0">
              <a:buNone/>
            </a:pPr>
            <a:r>
              <a:rPr lang="en-US" dirty="0"/>
              <a:t>Drop it?  But what if the other data in the dataset is good?</a:t>
            </a:r>
          </a:p>
          <a:p>
            <a:pPr marL="0" indent="0">
              <a:buNone/>
            </a:pPr>
            <a:r>
              <a:rPr lang="en-US" dirty="0"/>
              <a:t>We don’t have to drop it.  </a:t>
            </a:r>
          </a:p>
          <a:p>
            <a:pPr marL="0" indent="0">
              <a:buNone/>
            </a:pPr>
            <a:r>
              <a:rPr lang="en-US" dirty="0"/>
              <a:t>We can replace it with the mean of non-missing data, replace it with an arbitrary value or random values?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A8E4D-F5E5-7451-11DD-E954ED75EB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55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1607-E648-C38B-3628-42511321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TOPIC #2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BC268-02F5-4775-9BDA-953FE3EEE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Categorical Encoding</a:t>
            </a:r>
          </a:p>
          <a:p>
            <a:pPr marL="0" indent="0">
              <a:buNone/>
            </a:pPr>
            <a:r>
              <a:rPr lang="en-US" dirty="0"/>
              <a:t>Replace variable strings by estimated or arbitrary numbers.</a:t>
            </a:r>
          </a:p>
          <a:p>
            <a:pPr marL="0" indent="0">
              <a:buNone/>
            </a:pPr>
            <a:r>
              <a:rPr lang="en-US" dirty="0"/>
              <a:t>One way to turn text into a numerical value that you can then use classification or regression ML</a:t>
            </a:r>
          </a:p>
          <a:p>
            <a:pPr marL="0" indent="0">
              <a:buNone/>
            </a:pPr>
            <a:r>
              <a:rPr lang="en-US" dirty="0"/>
              <a:t>This can be done in terms of assigning a unique number to a unique value, or “one hot” encoding where a variable is set to 1 for each unique value.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515E5-AD2E-B921-E6F9-D4E33902BD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1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4BF5-7601-BEA6-9BA7-2C18FB21E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TOPIC #3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1D204-E949-61B0-430F-7F4D2E268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Discretization</a:t>
            </a:r>
          </a:p>
          <a:p>
            <a:pPr marL="0" indent="0">
              <a:buNone/>
            </a:pPr>
            <a:r>
              <a:rPr lang="en-US" dirty="0"/>
              <a:t>Have a variable that has a skewed distribution? You can discretize the variable and transform it into a finite number of classes that have equal numbers of datapoints, equal value widths, etc. </a:t>
            </a:r>
          </a:p>
          <a:p>
            <a:pPr marL="0" indent="0">
              <a:buNone/>
            </a:pPr>
            <a:r>
              <a:rPr lang="en-US" dirty="0"/>
              <a:t>Or, you can turn the discretization into a machine learning problem that gives you the best model performance!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A533A-263D-A121-4A4C-86CA29717B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39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7F7F6-A42A-8404-C147-C0012B5D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TOPIC #4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9C649-5093-BCD4-6BB7-5E13032F4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Outlier handling</a:t>
            </a:r>
          </a:p>
          <a:p>
            <a:pPr marL="0" indent="0">
              <a:buNone/>
            </a:pPr>
            <a:r>
              <a:rPr lang="en-US" dirty="0"/>
              <a:t>Outliers are typically skewed and can impact model performance.</a:t>
            </a:r>
          </a:p>
          <a:p>
            <a:pPr marL="0" indent="0">
              <a:buNone/>
            </a:pPr>
            <a:r>
              <a:rPr lang="en-US" dirty="0"/>
              <a:t>There are strategies that can remove outliers in a quantitative way.</a:t>
            </a:r>
          </a:p>
          <a:p>
            <a:pPr marL="0" indent="0">
              <a:buNone/>
            </a:pPr>
            <a:r>
              <a:rPr lang="en-US" dirty="0"/>
              <a:t>One of the most common ways is to use quantiles (e.g., removing the extreme 1, 5, 10</a:t>
            </a:r>
            <a:r>
              <a:rPr lang="en-US" baseline="30000" dirty="0"/>
              <a:t>th</a:t>
            </a:r>
            <a:r>
              <a:rPr lang="en-US" dirty="0"/>
              <a:t> percentiles).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5BA4B-3B97-2A41-2B80-A09A8A83F0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37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2A44-3F34-AC53-05E2-2C5A700F7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TOPIC #5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EAC0C-B6D3-DEE9-9EA5-9E19F736B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Variance stabilizing transformations</a:t>
            </a:r>
          </a:p>
          <a:p>
            <a:pPr marL="0" indent="0">
              <a:buNone/>
            </a:pPr>
            <a:r>
              <a:rPr lang="en-US" dirty="0"/>
              <a:t>Often, we want the probability distribution of variables to be as normal/Gaussian as possible.  We can apply a number of mathematical transformations to data to get data to be more “normal”</a:t>
            </a:r>
          </a:p>
          <a:p>
            <a:pPr marL="0" indent="0">
              <a:buNone/>
            </a:pPr>
            <a:r>
              <a:rPr lang="en-US" dirty="0"/>
              <a:t>normalizing/standardizing, ln, log</a:t>
            </a:r>
            <a:r>
              <a:rPr lang="en-US" baseline="-25000" dirty="0"/>
              <a:t>10</a:t>
            </a:r>
            <a:r>
              <a:rPr lang="en-US" dirty="0"/>
              <a:t>, exponential, reciprocal, power law, and Box-Cox transformations are commonly used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2C41-F9E5-C3E0-792B-698884D384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01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16F77-F2ED-89AD-FB80-BDE66C45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TOPIC #6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B9A5E-F058-B56B-C5E5-3C4A7333B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creation</a:t>
            </a:r>
          </a:p>
          <a:p>
            <a:pPr marL="0" indent="0">
              <a:buNone/>
            </a:pPr>
            <a:r>
              <a:rPr lang="en-US" dirty="0"/>
              <a:t>These are features that can be created, are known to the data scientist, and could help in predictability</a:t>
            </a:r>
          </a:p>
          <a:p>
            <a:pPr marL="0" indent="0">
              <a:buNone/>
            </a:pPr>
            <a:r>
              <a:rPr lang="en-US" dirty="0"/>
              <a:t>These commonly include calendar-based features in geosciences.</a:t>
            </a:r>
          </a:p>
          <a:p>
            <a:pPr marL="0" indent="0">
              <a:buNone/>
            </a:pPr>
            <a:r>
              <a:rPr lang="en-US" dirty="0"/>
              <a:t>However, they could also be mathematical combinations of variables, or statistical values of variables.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090D5-5B7E-178F-3FD4-09B7DD1B65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81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0BF05-C548-D537-4943-AA914DC9D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TOPIC #7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A9101-B54A-1413-6428-FB778FAB6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Selection</a:t>
            </a:r>
          </a:p>
          <a:p>
            <a:pPr marL="0" indent="0">
              <a:buNone/>
            </a:pPr>
            <a:r>
              <a:rPr lang="en-US" dirty="0"/>
              <a:t>Some features will have low predictive performance in your model.</a:t>
            </a:r>
          </a:p>
          <a:p>
            <a:pPr marL="0" indent="0">
              <a:buNone/>
            </a:pPr>
            <a:r>
              <a:rPr lang="en-US" dirty="0"/>
              <a:t>You can remove these manually by looking at diagnostics in your input features (are they constant, how are they correlated with other features/target) as well as examine model performance by recursively excluding features.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5509C6-868A-1A3B-41B0-52D0937DD8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29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0B7BA-F2E6-8764-8B60-6F62BD87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TOPIC #8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4B718-528C-E20D-BFD9-2C9CC2BB1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series engineering</a:t>
            </a:r>
          </a:p>
          <a:p>
            <a:pPr marL="0" indent="0">
              <a:buNone/>
            </a:pPr>
            <a:r>
              <a:rPr lang="en-US" dirty="0"/>
              <a:t>Is there information in the time series of features that could give information on the prediction of present or future state of the target?</a:t>
            </a:r>
          </a:p>
          <a:p>
            <a:pPr marL="0" indent="0">
              <a:buNone/>
            </a:pPr>
            <a:r>
              <a:rPr lang="en-US" dirty="0"/>
              <a:t>Can time-lagged instantaneous information or a window of information help?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C900E-2084-0EAE-1D61-0FFAF0493B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56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C5E6FF-C37C-36FE-E86C-8349288D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757" y="211017"/>
            <a:ext cx="11752446" cy="5598112"/>
          </a:xfrm>
        </p:spPr>
        <p:txBody>
          <a:bodyPr>
            <a:normAutofit/>
          </a:bodyPr>
          <a:lstStyle/>
          <a:p>
            <a:r>
              <a:rPr lang="en-US" dirty="0"/>
              <a:t>Let’s go through some examples of these in practice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9840F-20A2-EB81-3B24-E73F7168FB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31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C59F1D-A927-4419-9C4F-B47EB5E7BCE8}" vid="{988AE39D-6ED3-44B0-BF17-7412BF32C7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8617</TotalTime>
  <Words>590</Words>
  <Application>Microsoft Office PowerPoint</Application>
  <PresentationFormat>Widescreen</PresentationFormat>
  <Paragraphs>65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Trebuchet MS</vt:lpstr>
      <vt:lpstr>Open Sans Light</vt:lpstr>
      <vt:lpstr>Calibri</vt:lpstr>
      <vt:lpstr>Arial</vt:lpstr>
      <vt:lpstr>Open Sans</vt:lpstr>
      <vt:lpstr>Office Theme</vt:lpstr>
      <vt:lpstr>Weather and climate DATA analytics</vt:lpstr>
      <vt:lpstr>Improving ML models</vt:lpstr>
      <vt:lpstr>How can we improve further?</vt:lpstr>
      <vt:lpstr>Feature engineering </vt:lpstr>
      <vt:lpstr>Feature engineering topic #1</vt:lpstr>
      <vt:lpstr>FEATURE ENGINEERING TOPIC #2 </vt:lpstr>
      <vt:lpstr>FEATURE ENGINEERING TOPIC #3 </vt:lpstr>
      <vt:lpstr>FEATURE ENGINEERING TOPIC #4 </vt:lpstr>
      <vt:lpstr>FEATURE ENGINEERING TOPIC #5 </vt:lpstr>
      <vt:lpstr>FEATURE ENGINEERING TOPIC #6 </vt:lpstr>
      <vt:lpstr>FEATURE ENGINEERING TOPIC #7 </vt:lpstr>
      <vt:lpstr>FEATURE ENGINEERING TOPIC #8 </vt:lpstr>
      <vt:lpstr>Let’s go through some examples of these in practice</vt:lpstr>
    </vt:vector>
  </TitlesOfParts>
  <Manager/>
  <Company>UI Atmospheric Sciences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Brian Jewett and Alicia Klees</dc:creator>
  <cp:keywords/>
  <dc:description/>
  <cp:lastModifiedBy>Nesbitt, Stephen</cp:lastModifiedBy>
  <cp:revision>87</cp:revision>
  <dcterms:created xsi:type="dcterms:W3CDTF">2018-12-12T21:03:18Z</dcterms:created>
  <dcterms:modified xsi:type="dcterms:W3CDTF">2025-11-13T14:52:17Z</dcterms:modified>
  <cp:category/>
</cp:coreProperties>
</file>